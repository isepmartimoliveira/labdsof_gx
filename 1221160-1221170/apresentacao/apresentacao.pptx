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Apresentamos o Coordenador de Manutenção de Edifícios: problema, visão, personas, funcionalidades, workflows e estado da primeira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Comunidade: condomínios autogeridos. Problema: processos lentos, informais e sem registo. Quatro hipóteses: falta de visibilidade do morador, sobrecarga da administração, falta de contexto do prestador e ausência de memória do edifício. Nada validado ainda; sem evidência fabricada.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Visão: da avaria à reparação agendada, com triagem por IA, aprovação humana e memória do edifício. Valor para morador, administração e comunidade. Regra estruturante: a IA sugere, o humano decide; 100% das ações consequentes são aprovadas por humano.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personas: Maria, moradora; João, administrador voluntário; Carlos, prestador. Objetivos, frustrações e citações. Tudo por validar: zero entrevistas até à data, com plano definido.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MVP: seis funcionalidades Must — reporte, triagem IA com aprovação, ordens de trabalho, seleção/agendamento, notificações e papéis com autenticação simulada. Fases seguintes: duplicados, custos, análises e disponibilidade. Transversal: IA responsável com fallback e aprovação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principal em seis passos. O relato é persistido e confirmado de imediato; a triagem corre de forma assíncrona; a sugestão é anexada mas nunca se confunde com o relato; a aprovação humana define os valores autoritativos; seguem-se seleção, reserva, notificações, resolução e histórico. Fiabilidade: deduplicação, retentativas, fila de mensagens mortas, consistência eventual.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modos degradados. IA indisponível: classificador de regras e fila manual — o processo continua e o resultado é rotulado. Calendário indisponível: retenção local provisória com retentativas, sem duplo agendamento. Nunca se apresenta incerteza como facto. Demonstração prevista para a Sprint B/C.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Estado: todos os artefactos concluídos e prontos para entrega. DoR/DoD com dez critérios de entrada e quinze de fecho. Papéis e processo completos: RACI, cerimónias, estimação, tracking e regras Git. Modelo de domínio com catorze entidades, invariantes, ciclo de vida e retenção. Arquitetura com vistas C4, fluxo assíncrono, integrações, implantação, observabilidade e cinco ADRs. Próximo passo: revisão do investidor e arranque da Sprint B com o walking skeleton.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passos: registo dos nomes nos papéis definidos, revisão do investidor hoje, walking skeleton com pipeline e implantação no arranque da Sprint B. Pergunta ao investidor: este é um problema valioso e o MVP é o menor experimento credível?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794760"/>
            <a:ext cx="960120" cy="3063240"/>
          </a:xfrm>
          <a:prstGeom prst="rect">
            <a:avLst/>
          </a:prstGeom>
          <a:solidFill>
            <a:srgbClr val="24384F"/>
          </a:solidFill>
          <a:ln w="12700">
            <a:solidFill>
              <a:srgbClr val="2438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2331720"/>
            <a:ext cx="1143000" cy="4526280"/>
          </a:xfrm>
          <a:prstGeom prst="rect">
            <a:avLst/>
          </a:prstGeom>
          <a:solidFill>
            <a:srgbClr val="2C4258"/>
          </a:solidFill>
          <a:ln w="12700">
            <a:solidFill>
              <a:srgbClr val="2C42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3063240"/>
            <a:ext cx="868680" cy="3794760"/>
          </a:xfrm>
          <a:prstGeom prst="rect">
            <a:avLst/>
          </a:prstGeom>
          <a:solidFill>
            <a:srgbClr val="24384F"/>
          </a:solidFill>
          <a:ln w="12700">
            <a:solidFill>
              <a:srgbClr val="24384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1672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1B2A41"/>
                </a:solidFill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3" name="Text 0"/>
          <p:cNvSpPr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</a:rPr>
              <a:t>CME · LABDSOF 2026/27 · ISEP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2697480"/>
            <a:ext cx="201168" cy="237744"/>
          </a:xfrm>
          <a:prstGeom prst="rect">
            <a:avLst/>
          </a:prstGeom>
          <a:solidFill>
            <a:srgbClr val="E8A33D">
              <a:alpha val="85000"/>
            </a:srgbClr>
          </a:solidFill>
          <a:ln w="12700">
            <a:solidFill>
              <a:srgbClr val="E8A33D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96728" y="2697480"/>
            <a:ext cx="201168" cy="237744"/>
          </a:xfrm>
          <a:prstGeom prst="rect">
            <a:avLst/>
          </a:prstGeom>
          <a:solidFill>
            <a:srgbClr val="E8A33D">
              <a:alpha val="85000"/>
            </a:srgbClr>
          </a:solidFill>
          <a:ln w="12700">
            <a:solidFill>
              <a:srgbClr val="E8A33D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3264408"/>
            <a:ext cx="201168" cy="237744"/>
          </a:xfrm>
          <a:prstGeom prst="rect">
            <a:avLst/>
          </a:prstGeom>
          <a:solidFill>
            <a:srgbClr val="E8A33D">
              <a:alpha val="85000"/>
            </a:srgbClr>
          </a:solidFill>
          <a:ln w="12700">
            <a:solidFill>
              <a:srgbClr val="E8A33D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96728" y="3264408"/>
            <a:ext cx="201168" cy="237744"/>
          </a:xfrm>
          <a:prstGeom prst="rect">
            <a:avLst/>
          </a:prstGeom>
          <a:solidFill>
            <a:srgbClr val="E8A33D">
              <a:alpha val="85000"/>
            </a:srgbClr>
          </a:solidFill>
          <a:ln w="12700">
            <a:solidFill>
              <a:srgbClr val="E8A33D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3831336"/>
            <a:ext cx="201168" cy="237744"/>
          </a:xfrm>
          <a:prstGeom prst="rect">
            <a:avLst/>
          </a:prstGeom>
          <a:solidFill>
            <a:srgbClr val="E8A33D">
              <a:alpha val="85000"/>
            </a:srgbClr>
          </a:solidFill>
          <a:ln w="12700">
            <a:solidFill>
              <a:srgbClr val="E8A33D">
                <a:alpha val="8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96728" y="3831336"/>
            <a:ext cx="201168" cy="237744"/>
          </a:xfrm>
          <a:prstGeom prst="rect">
            <a:avLst/>
          </a:prstGeom>
          <a:solidFill>
            <a:srgbClr val="E8A33D">
              <a:alpha val="85000"/>
            </a:srgbClr>
          </a:solidFill>
          <a:ln w="12700">
            <a:solidFill>
              <a:srgbClr val="E8A33D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12680" y="4398264"/>
            <a:ext cx="201168" cy="237744"/>
          </a:xfrm>
          <a:prstGeom prst="rect">
            <a:avLst/>
          </a:prstGeom>
          <a:solidFill>
            <a:srgbClr val="E8A33D">
              <a:alpha val="85000"/>
            </a:srgbClr>
          </a:solidFill>
          <a:ln w="12700">
            <a:solidFill>
              <a:srgbClr val="E8A33D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96728" y="4398264"/>
            <a:ext cx="201168" cy="237744"/>
          </a:xfrm>
          <a:prstGeom prst="rect">
            <a:avLst/>
          </a:prstGeom>
          <a:solidFill>
            <a:srgbClr val="E8A33D">
              <a:alpha val="85000"/>
            </a:srgbClr>
          </a:solidFill>
          <a:ln w="12700">
            <a:solidFill>
              <a:srgbClr val="E8A33D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4965192"/>
            <a:ext cx="201168" cy="237744"/>
          </a:xfrm>
          <a:prstGeom prst="rect">
            <a:avLst/>
          </a:prstGeom>
          <a:solidFill>
            <a:srgbClr val="E8A33D">
              <a:alpha val="85000"/>
            </a:srgbClr>
          </a:solidFill>
          <a:ln w="12700">
            <a:solidFill>
              <a:srgbClr val="E8A33D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96728" y="4965192"/>
            <a:ext cx="201168" cy="237744"/>
          </a:xfrm>
          <a:prstGeom prst="rect">
            <a:avLst/>
          </a:prstGeom>
          <a:solidFill>
            <a:srgbClr val="E8A33D">
              <a:alpha val="85000"/>
            </a:srgbClr>
          </a:solidFill>
          <a:ln w="12700">
            <a:solidFill>
              <a:srgbClr val="E8A33D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5532120"/>
            <a:ext cx="201168" cy="237744"/>
          </a:xfrm>
          <a:prstGeom prst="rect">
            <a:avLst/>
          </a:prstGeom>
          <a:solidFill>
            <a:srgbClr val="E8A33D">
              <a:alpha val="85000"/>
            </a:srgbClr>
          </a:solidFill>
          <a:ln w="12700">
            <a:solidFill>
              <a:srgbClr val="E8A33D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96728" y="5532120"/>
            <a:ext cx="201168" cy="237744"/>
          </a:xfrm>
          <a:prstGeom prst="rect">
            <a:avLst/>
          </a:prstGeom>
          <a:solidFill>
            <a:srgbClr val="E8A33D">
              <a:alpha val="85000"/>
            </a:srgbClr>
          </a:solidFill>
          <a:ln w="12700">
            <a:solidFill>
              <a:srgbClr val="E8A33D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14173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Coordenador de Manutenção de Edifícios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337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6DF"/>
                </a:solidFill>
              </a:rPr>
              <a:t>Da avaria à reparação agendada — com triagem por IA, decisão humana e memória do edifício.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617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1C1"/>
                </a:solidFill>
              </a:rPr>
              <a:t>Laboratório de Desenvolvimento de Software — LABDSOF 2026/27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1C1"/>
                </a:solidFill>
              </a:rPr>
              <a:t>ISEP — Instituto Superior de Engenharia do Porto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B1C1"/>
                </a:solidFill>
              </a:rPr>
              <a:t>Primeira entrega (Sprint A) · Equipa: [nomes dos membros] · 2026-10-08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1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1"/>
                </a:solidFill>
              </a:rPr>
              <a:t>O problema: manutenção lenta, informal e sem registo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</a:rPr>
              <a:t>Comunidade-alvo: condomínios residenciais autogeridos — 8 a 60 frações, administração voluntária, sem gestor profissional.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58384" cy="1920240"/>
          </a:xfrm>
          <a:prstGeom prst="roundRect">
            <a:avLst>
              <a:gd name="adj" fmla="val 3333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737360"/>
            <a:ext cx="493776" cy="493776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37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755648"/>
            <a:ext cx="4215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H1 · Morador sem visibilidade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95728"/>
            <a:ext cx="4809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</a:rPr>
              <a:t>Não sabe se o pedido foi recebido, quem o trata, nem quando vem alguém.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81928" y="1481328"/>
            <a:ext cx="5358384" cy="1920240"/>
          </a:xfrm>
          <a:prstGeom prst="roundRect">
            <a:avLst>
              <a:gd name="adj" fmla="val 3333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737360"/>
            <a:ext cx="493776" cy="493776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737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755648"/>
            <a:ext cx="4215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H2 · Administração sobrecarregada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56248" y="2395728"/>
            <a:ext cx="4809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</a:rPr>
              <a:t>Coordenação ao telefone, decisões de memória e noites perdidas, sem apoio à decisão.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84448"/>
            <a:ext cx="5358384" cy="1920240"/>
          </a:xfrm>
          <a:prstGeom prst="roundRect">
            <a:avLst>
              <a:gd name="adj" fmla="val 3333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840480"/>
            <a:ext cx="493776" cy="493776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8404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44752" y="3858768"/>
            <a:ext cx="4215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H3 · Prestadores sem contexto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498848"/>
            <a:ext cx="4809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</a:rPr>
              <a:t>Chegam sem fotografia, sem fração e com descrições vagas; perdem tempo em cada visita.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81928" y="3584448"/>
            <a:ext cx="5358384" cy="1920240"/>
          </a:xfrm>
          <a:prstGeom prst="roundRect">
            <a:avLst>
              <a:gd name="adj" fmla="val 3333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3840480"/>
            <a:ext cx="493776" cy="493776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38404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858768"/>
            <a:ext cx="4215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H4 · Edifício sem memória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56248" y="4498848"/>
            <a:ext cx="4809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</a:rPr>
              <a:t>Sem histórico de problemas recorrentes nem de custos para orçamentar e prestar contas.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14476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</a:rPr>
              <a:t>Hipóteses de trabalho, ainda não validadas: não foi realizada nenhuma entrevista nem inquérito (à data de 2026-10-08).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1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1"/>
                </a:solidFill>
              </a:rPr>
              <a:t>A visão: a IA prepara a decisão, o humano decide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11091672" cy="1325880"/>
          </a:xfrm>
          <a:prstGeom prst="roundRect">
            <a:avLst>
              <a:gd name="adj" fmla="val 4828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225296"/>
            <a:ext cx="10469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«De um elevador avariado a uma reparação agendada em minutos, não em dias — com triagem por IA, aprovação humana e uma memória do edifício que mostra para onde vai o dinheiro.»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70048"/>
            <a:ext cx="3538728" cy="2084832"/>
          </a:xfrm>
          <a:prstGeom prst="roundRect">
            <a:avLst>
              <a:gd name="adj" fmla="val 3070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871216"/>
            <a:ext cx="310896" cy="310896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43584" y="2871216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CB1"/>
                </a:solidFill>
              </a:rPr>
              <a:t>MORADOR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01568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Reportar uma vez e saber quem vem e quando: confirmação imediata e cronologia visível.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2670048"/>
            <a:ext cx="3538728" cy="2084832"/>
          </a:xfrm>
          <a:prstGeom prst="roundRect">
            <a:avLst>
              <a:gd name="adj" fmla="val 3070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2871216"/>
            <a:ext cx="310896" cy="3108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0056" y="2871216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</a:rPr>
              <a:t>ADMINISTRAÇÃO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3401568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Decidir depressa com informação preparada; justificar custos com histórico auditável.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1584" y="2670048"/>
            <a:ext cx="3538728" cy="2084832"/>
          </a:xfrm>
          <a:prstGeom prst="roundRect">
            <a:avLst>
              <a:gd name="adj" fmla="val 3070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75904" y="2871216"/>
            <a:ext cx="310896" cy="310896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96528" y="2871216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6B"/>
                </a:solidFill>
              </a:rPr>
              <a:t>COMUNIDADE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3401568"/>
            <a:ext cx="2990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Menos tempo de indisponibilidade, despesa transparente e manutenção mais previsível.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91672" cy="731520"/>
          </a:xfrm>
          <a:prstGeom prst="roundRect">
            <a:avLst>
              <a:gd name="adj" fmla="val 8750"/>
            </a:avLst>
          </a:prstGeom>
          <a:solidFill>
            <a:srgbClr val="FDF4E5"/>
          </a:solidFill>
          <a:ln w="12700">
            <a:solidFill>
              <a:srgbClr val="FDF4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074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86E15"/>
                </a:solidFill>
              </a:rPr>
              <a:t>Regra estruturante: 100% das ações com consequências (agendar, gastar) exigem aprovação humana.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4476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</a:rPr>
              <a:t>Modelo de negócio proposto: SaaS de 49–99 €/mês por edifício; custo operacional estimado de 30–140 €/mês por edifício-piloto.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1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1"/>
                </a:solidFill>
              </a:rPr>
              <a:t>Para quem: três papéis, uma reparação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38728" cy="4343400"/>
          </a:xfrm>
          <a:prstGeom prst="roundRect">
            <a:avLst>
              <a:gd name="adj" fmla="val 1809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4812" y="1645920"/>
            <a:ext cx="786384" cy="7863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4812" y="164592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Maria, 34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95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F6D7A"/>
                </a:solidFill>
              </a:rPr>
              <a:t>Moradora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10128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B1"/>
                </a:solidFill>
              </a:rPr>
              <a:t>OBJETIVO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47872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</a:rPr>
              <a:t>Reportar uma vez do telemóvel e saber quem vem e quando.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61104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6E15"/>
                </a:solidFill>
              </a:rPr>
              <a:t>FRUSTRAÇÃO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98848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</a:rPr>
              <a:t>Pedidos perdidos no WhatsApp; ausência de resposta.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5010912"/>
            <a:ext cx="299008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5047488"/>
            <a:ext cx="2770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B2A41"/>
                </a:solidFill>
              </a:rPr>
              <a:t>«Só quero saber quem é que vem e quando.»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25112" y="1371600"/>
            <a:ext cx="3538728" cy="4343400"/>
          </a:xfrm>
          <a:prstGeom prst="roundRect">
            <a:avLst>
              <a:gd name="adj" fmla="val 1809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01284" y="1645920"/>
            <a:ext cx="786384" cy="786384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01284" y="164592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J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2560320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João, 58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07992" y="28895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F6D7A"/>
                </a:solidFill>
              </a:rPr>
              <a:t>Administrador voluntário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3310128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B1"/>
                </a:solidFill>
              </a:rPr>
              <a:t>OBJETIVO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99432" y="3547872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</a:rPr>
              <a:t>Manter o edifício a funcionar sem perder as noites; justificar custos na assembleia.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99432" y="4261104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6E15"/>
                </a:solidFill>
              </a:rPr>
              <a:t>FRUSTRAÇÃO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4498848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</a:rPr>
              <a:t>Coordenação por telefone; decisões de memória.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99432" y="5010912"/>
            <a:ext cx="299008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09160" y="5047488"/>
            <a:ext cx="2770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B2A41"/>
                </a:solidFill>
              </a:rPr>
              <a:t>«Quero que a IA prepare a decisão, não que a tome.»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01584" y="1371600"/>
            <a:ext cx="3538728" cy="4343400"/>
          </a:xfrm>
          <a:prstGeom prst="roundRect">
            <a:avLst>
              <a:gd name="adj" fmla="val 1809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77756" y="1645920"/>
            <a:ext cx="786384" cy="786384"/>
          </a:xfrm>
          <a:prstGeom prst="ellipse">
            <a:avLst/>
          </a:prstGeom>
          <a:solidFill>
            <a:srgbClr val="A86E15"/>
          </a:solidFill>
          <a:ln w="12700">
            <a:solidFill>
              <a:srgbClr val="A86E1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77756" y="164592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8284464" y="2560320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Carlos, 42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284464" y="28895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F6D7A"/>
                </a:solidFill>
              </a:rPr>
              <a:t>Prestador (canalizador)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375904" y="3310128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B1"/>
                </a:solidFill>
              </a:rPr>
              <a:t>OBJETIVO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375904" y="3547872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</a:rPr>
              <a:t>Trabalho local estável com contexto completo antes de chegar.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75904" y="4261104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6E15"/>
                </a:solidFill>
              </a:rPr>
              <a:t>FRUSTRAÇÃO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375904" y="4498848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770"/>
                </a:solidFill>
              </a:rPr>
              <a:t>Pedidos vagos, sem fotografia nem fração.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75904" y="5010912"/>
            <a:ext cx="299008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85632" y="5047488"/>
            <a:ext cx="2770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B2A41"/>
                </a:solidFill>
              </a:rPr>
              <a:t>«Mande-me a fotografia e a fração.»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14476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</a:rPr>
              <a:t>Personas-rascunho: 0 entrevistas realizadas. Plano de validação: 5–6 moradores, 2–3 administradores, 2–3 prestadores, inquérito com ≥30 respostas.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1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1"/>
                </a:solidFill>
              </a:rPr>
              <a:t>Como resolvemos: um ciclo completo de coordenação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6E15"/>
                </a:solidFill>
              </a:rPr>
              <a:t>MVP — funcionalidades Must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538728" cy="1115568"/>
          </a:xfrm>
          <a:prstGeom prst="roundRect">
            <a:avLst>
              <a:gd name="adj" fmla="val 5738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08176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E1 · Reporte de problemas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755648"/>
            <a:ext cx="3136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Descrição + fração + fotografia, com confirmação imediata.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25112" y="1280160"/>
            <a:ext cx="3538728" cy="1115568"/>
          </a:xfrm>
          <a:prstGeom prst="roundRect">
            <a:avLst>
              <a:gd name="adj" fmla="val 5738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408176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E2 · Triagem por IA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1755648"/>
            <a:ext cx="3136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Tipo, severidade e duplicados sugeridos; aprovados por humano.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01584" y="1280160"/>
            <a:ext cx="3538728" cy="1115568"/>
          </a:xfrm>
          <a:prstGeom prst="roundRect">
            <a:avLst>
              <a:gd name="adj" fmla="val 5738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2752" y="1408176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E3 · Ordens de trabalho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1755648"/>
            <a:ext cx="3136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Ciclo de estados auditável e cronologia visível ao morador.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487168"/>
            <a:ext cx="3538728" cy="1115568"/>
          </a:xfrm>
          <a:prstGeom prst="roundRect">
            <a:avLst>
              <a:gd name="adj" fmla="val 5738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615184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E4 · Seleção e agendamento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2962656"/>
            <a:ext cx="3136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Prestador ordenado por preço, localização e disponibilidade.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25112" y="2487168"/>
            <a:ext cx="3538728" cy="1115568"/>
          </a:xfrm>
          <a:prstGeom prst="roundRect">
            <a:avLst>
              <a:gd name="adj" fmla="val 5738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2615184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E5 · Notificações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2962656"/>
            <a:ext cx="3136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Morador, administração e prestador informados a cada mudança.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01584" y="2487168"/>
            <a:ext cx="3538728" cy="1115568"/>
          </a:xfrm>
          <a:prstGeom prst="roundRect">
            <a:avLst>
              <a:gd name="adj" fmla="val 5738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02752" y="2615184"/>
            <a:ext cx="3136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</a:rPr>
              <a:t>E6 · Papéis e acessos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962656"/>
            <a:ext cx="3136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Visibilidade por papel e auditoria; autenticação simulada (ADR-005).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767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6D7A"/>
                </a:solidFill>
              </a:rPr>
              <a:t>Fases seguintes — Should / Could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059936"/>
            <a:ext cx="263347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415137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</a:rPr>
              <a:t>E7 · Duplicados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444398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6A3"/>
                </a:solidFill>
              </a:rPr>
              <a:t>v1.2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64992" y="4059936"/>
            <a:ext cx="263347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29584" y="415137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</a:rPr>
              <a:t>E8 · Registos de custo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529584" y="444398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6A3"/>
                </a:solidFill>
              </a:rPr>
              <a:t>v1.2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81344" y="4059936"/>
            <a:ext cx="263347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45936" y="415137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</a:rPr>
              <a:t>E9 · Análises e histórico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345936" y="444398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6A3"/>
                </a:solidFill>
              </a:rPr>
              <a:t>v1.2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97696" y="4059936"/>
            <a:ext cx="263347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62288" y="415137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</a:rPr>
              <a:t>E10 · Disponibilidade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162288" y="444398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6A3"/>
                </a:solidFill>
              </a:rPr>
              <a:t>v1.1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80974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70"/>
                </a:solidFill>
              </a:rPr>
              <a:t>Could (opções de evolução): envolvimento ético comunitário · auto-agendamento condicionado · multilingue PT/EN.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084064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" y="5266944"/>
            <a:ext cx="347472" cy="34747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8952" y="5266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IA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234440" y="5084064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5C41"/>
                </a:solidFill>
              </a:rPr>
              <a:t>IA responsável: sugestões rotuladas «IA-sugerido», baseline e fallback por regras, e nenhuma reserva ou despesa sem aprovação humana.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14476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</a:rPr>
              <a:t>Fora de âmbito (agora): pagamentos/rendas, leilões de mercado, sensores IoT e portefólios multi-edifício.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1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1"/>
                </a:solidFill>
              </a:rPr>
              <a:t>Workflow principal: do relato à memória do edifício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828800"/>
            <a:ext cx="1600200" cy="237744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5004" y="1975104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500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487168"/>
            <a:ext cx="1380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1"/>
                </a:solidFill>
              </a:rPr>
              <a:t>1 · Reportar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999232"/>
            <a:ext cx="1380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770"/>
                </a:solidFill>
              </a:rPr>
              <a:t>Descrição, fração e fotografia; estado Recebido.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99132" y="2889504"/>
            <a:ext cx="228600" cy="256032"/>
          </a:xfrm>
          <a:prstGeom prst="rightArrow">
            <a:avLst/>
          </a:prstGeom>
          <a:solidFill>
            <a:srgbClr val="B7C4CE"/>
          </a:solidFill>
          <a:ln w="12700">
            <a:solidFill>
              <a:srgbClr val="B7C4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9736" y="1828800"/>
            <a:ext cx="1600200" cy="237744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7812" y="1975104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7812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69464" y="2487168"/>
            <a:ext cx="1380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1"/>
                </a:solidFill>
              </a:rPr>
              <a:t>2 · Triar (IA)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569464" y="2999232"/>
            <a:ext cx="1380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770"/>
                </a:solidFill>
              </a:rPr>
              <a:t>Classifica, extrai e deteta duplicados — assíncrono.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91940" y="2889504"/>
            <a:ext cx="228600" cy="256032"/>
          </a:xfrm>
          <a:prstGeom prst="rightArrow">
            <a:avLst/>
          </a:prstGeom>
          <a:solidFill>
            <a:srgbClr val="B7C4CE"/>
          </a:solidFill>
          <a:ln w="12700">
            <a:solidFill>
              <a:srgbClr val="B7C4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2544" y="1828800"/>
            <a:ext cx="1600200" cy="237744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0620" y="1975104"/>
            <a:ext cx="384048" cy="384048"/>
          </a:xfrm>
          <a:prstGeom prst="ellipse">
            <a:avLst/>
          </a:prstGeom>
          <a:solidFill>
            <a:srgbClr val="A86E15"/>
          </a:solidFill>
          <a:ln w="12700">
            <a:solidFill>
              <a:srgbClr val="A86E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0620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2487168"/>
            <a:ext cx="1380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1"/>
                </a:solidFill>
              </a:rPr>
              <a:t>3 · Aprovar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2999232"/>
            <a:ext cx="1380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770"/>
                </a:solidFill>
              </a:rPr>
              <a:t>A administração aceita ou corrige a sugestão.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84748" y="2889504"/>
            <a:ext cx="228600" cy="256032"/>
          </a:xfrm>
          <a:prstGeom prst="rightArrow">
            <a:avLst/>
          </a:prstGeom>
          <a:solidFill>
            <a:srgbClr val="B7C4CE"/>
          </a:solidFill>
          <a:ln w="12700">
            <a:solidFill>
              <a:srgbClr val="B7C4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5352" y="1828800"/>
            <a:ext cx="1600200" cy="237744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3428" y="1975104"/>
            <a:ext cx="384048" cy="384048"/>
          </a:xfrm>
          <a:prstGeom prst="ellipse">
            <a:avLst/>
          </a:prstGeom>
          <a:solidFill>
            <a:srgbClr val="A86E15"/>
          </a:solidFill>
          <a:ln w="12700">
            <a:solidFill>
              <a:srgbClr val="A86E1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3428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2487168"/>
            <a:ext cx="1380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1"/>
                </a:solidFill>
              </a:rPr>
              <a:t>4 · Selecionar e agendar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2999232"/>
            <a:ext cx="1380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770"/>
                </a:solidFill>
              </a:rPr>
              <a:t>Ranking de prestadores e reserva na agenda.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877556" y="2889504"/>
            <a:ext cx="228600" cy="256032"/>
          </a:xfrm>
          <a:prstGeom prst="rightArrow">
            <a:avLst/>
          </a:prstGeom>
          <a:solidFill>
            <a:srgbClr val="B7C4CE"/>
          </a:solidFill>
          <a:ln w="12700">
            <a:solidFill>
              <a:srgbClr val="B7C4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1828800"/>
            <a:ext cx="1600200" cy="237744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46236" y="1975104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46236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47888" y="2487168"/>
            <a:ext cx="1380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1"/>
                </a:solidFill>
              </a:rPr>
              <a:t>5 · Notificar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247888" y="2999232"/>
            <a:ext cx="1380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770"/>
                </a:solidFill>
              </a:rPr>
              <a:t>Morador, administração e prestador informados.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770364" y="2889504"/>
            <a:ext cx="228600" cy="256032"/>
          </a:xfrm>
          <a:prstGeom prst="rightArrow">
            <a:avLst/>
          </a:prstGeom>
          <a:solidFill>
            <a:srgbClr val="B7C4CE"/>
          </a:solidFill>
          <a:ln w="12700">
            <a:solidFill>
              <a:srgbClr val="B7C4C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30968" y="1828800"/>
            <a:ext cx="1600200" cy="237744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39044" y="1975104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3904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0696" y="2487168"/>
            <a:ext cx="1380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1"/>
                </a:solidFill>
              </a:rPr>
              <a:t>6 · Resolver e registar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0140696" y="2999232"/>
            <a:ext cx="1380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770"/>
                </a:solidFill>
              </a:rPr>
              <a:t>Custo, histórico e análises do edifício.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4480560"/>
            <a:ext cx="5358384" cy="1051560"/>
          </a:xfrm>
          <a:prstGeom prst="roundRect">
            <a:avLst>
              <a:gd name="adj" fmla="val 6087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9808" y="45720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B1"/>
                </a:solidFill>
              </a:rPr>
              <a:t>IA — sugere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49808" y="4828032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Sugestão imutável anexada ao relato — nunca é o relato. Se a IA falhar, entra o classificador de regras.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81928" y="4480560"/>
            <a:ext cx="5358384" cy="1051560"/>
          </a:xfrm>
          <a:prstGeom prst="roundRect">
            <a:avLst>
              <a:gd name="adj" fmla="val 6087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83096" y="45720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6E15"/>
                </a:solidFill>
              </a:rPr>
              <a:t>HUMANO — decide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483096" y="4828032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Aprova categoria e severidade; aprova reserva e despesa. 100% das ações consequentes.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14476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3"/>
                </a:solidFill>
              </a:rPr>
              <a:t>Fluxo de eventos com deduplicação por identificador, retentativas com recuo, fila de mensagens mortas e estados pendentes visíveis na interface.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1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1"/>
                </a:solidFill>
              </a:rPr>
              <a:t>Quando algo falha, o processo continua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</a:rPr>
              <a:t>Modos degradados desenhados como requisito de resiliência (enunciado §6.8).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58384" cy="3246120"/>
          </a:xfrm>
          <a:prstGeom prst="roundRect">
            <a:avLst>
              <a:gd name="adj" fmla="val 1972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00784"/>
            <a:ext cx="566928" cy="566928"/>
          </a:xfrm>
          <a:prstGeom prst="ellipse">
            <a:avLst/>
          </a:prstGeom>
          <a:solidFill>
            <a:srgbClr val="4F6D7A"/>
          </a:solidFill>
          <a:ln w="12700">
            <a:solidFill>
              <a:srgbClr val="4F6D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177393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Serviço de IA indisponível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8716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B6770"/>
                </a:solidFill>
              </a:rPr>
              <a:t>1.  Relato submetido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B6770"/>
                </a:solidFill>
              </a:rPr>
              <a:t>2.  Classificador de regras por palavras-chave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B6770"/>
                </a:solidFill>
              </a:rPr>
              <a:t>3.  Fila de triagem manual para a administração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B6770"/>
                </a:solidFill>
              </a:rPr>
              <a:t>4.  Fluxo normal de revisão e aprovação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4069080"/>
            <a:ext cx="4718304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09651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A41"/>
                </a:solidFill>
              </a:rPr>
              <a:t>Resultado rotulado «estimativa por regras — IA indisponível».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81928" y="1463040"/>
            <a:ext cx="5358384" cy="3246120"/>
          </a:xfrm>
          <a:prstGeom prst="roundRect">
            <a:avLst>
              <a:gd name="adj" fmla="val 1972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700784"/>
            <a:ext cx="566928" cy="566928"/>
          </a:xfrm>
          <a:prstGeom prst="ellipse">
            <a:avLst/>
          </a:prstGeom>
          <a:solidFill>
            <a:srgbClr val="4F6D7A"/>
          </a:solidFill>
          <a:ln w="12700">
            <a:solidFill>
              <a:srgbClr val="4F6D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177393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Calendário externo indisponível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248716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B6770"/>
                </a:solidFill>
              </a:rPr>
              <a:t>1.  Aprovação mantém-se válida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B6770"/>
                </a:solidFill>
              </a:rPr>
              <a:t>2.  Slot retido localmente como provisório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B6770"/>
                </a:solidFill>
              </a:rPr>
              <a:t>3.  Notificação da data provisória a todos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B6770"/>
                </a:solidFill>
              </a:rPr>
              <a:t>4.  Retentativas; fallback telefónico se persistir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01968" y="4069080"/>
            <a:ext cx="4718304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39128" y="409651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A41"/>
                </a:solidFill>
              </a:rPr>
              <a:t>Sem duplo agendamento: a retenção local é autoritativa até sincronizar.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Nunca apresentamos saída incerta como facto verificado — e a reserva nunca se perde em silêncio.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577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DF"/>
                </a:solidFill>
              </a:rPr>
              <a:t>Demonstração de falha prevista para a Sprint B/C, com injeção de falhas nos simuladores.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56032"/>
            <a:ext cx="11091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1"/>
                </a:solidFill>
              </a:rPr>
              <a:t>Estado da primeira entrega: artefactos concluídos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Todos os artefactos pedidos estão concluídos, revistos internamente e prontos para entrega (à data de 2026-10-08).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91672" cy="1042416"/>
          </a:xfrm>
          <a:prstGeom prst="roundRect">
            <a:avLst>
              <a:gd name="adj" fmla="val 6140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37360"/>
            <a:ext cx="457200" cy="45720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89888" y="15727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Definition of Ready / Definition of Done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418320" y="1591056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0" y="15910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CONCLUÍDO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1975104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Checklists operacionais: 10 critérios de entrada e 15 de fecho, com fluxos, responsáveis e regras de reabertura.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1042416"/>
          </a:xfrm>
          <a:prstGeom prst="roundRect">
            <a:avLst>
              <a:gd name="adj" fmla="val 6140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2907792"/>
            <a:ext cx="457200" cy="45720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89888" y="2743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Papéis da equipa e processo de trabalho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418320" y="2761488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27614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CONCLUÍDO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389888" y="3145536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Papéis, responsabilidades (RACI), cerimónias, estimação, acompanhamento e regras Git documentados.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85616"/>
            <a:ext cx="11091672" cy="1042416"/>
          </a:xfrm>
          <a:prstGeom prst="roundRect">
            <a:avLst>
              <a:gd name="adj" fmla="val 6140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078224"/>
            <a:ext cx="457200" cy="45720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89888" y="39136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Modelo de domínio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418320" y="393192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3931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CONCLUÍDO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389888" y="4315968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14 entidades, propriedade por serviço, 8 invariantes, ciclo de vida, retenção e consistência.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956048"/>
            <a:ext cx="11091672" cy="1042416"/>
          </a:xfrm>
          <a:prstGeom prst="roundRect">
            <a:avLst>
              <a:gd name="adj" fmla="val 6140"/>
            </a:avLst>
          </a:prstGeom>
          <a:solidFill>
            <a:srgbClr val="F2F5F7"/>
          </a:solidFill>
          <a:ln w="12700">
            <a:solidFill>
              <a:srgbClr val="DFE6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" y="5248656"/>
            <a:ext cx="457200" cy="45720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89888" y="508406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Arquitetura de sistema de alto nível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18320" y="5102352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0" y="51023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CONCLUÍDO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548640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C4 (contexto e contentores), fluxo assíncrono, integrações, implantação, observabilidade e 5 ADRs.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770"/>
                </a:solidFill>
              </a:rPr>
              <a:t>Legenda:  </a:t>
            </a:r>
            <a:pPr algn="l" indent="0" marL="0">
              <a:buNone/>
            </a:pPr>
            <a:r>
              <a:rPr lang="en-US" sz="1000" b="1" dirty="0">
                <a:solidFill>
                  <a:srgbClr val="2E9E6B"/>
                </a:solidFill>
              </a:rPr>
              <a:t>concluído — documentação redigida, revista internamente e pronta para entrega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1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Próximos passos e pedido ao investidor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38728" cy="1874520"/>
          </a:xfrm>
          <a:prstGeom prst="roundRect">
            <a:avLst>
              <a:gd name="adj" fmla="val 3415"/>
            </a:avLst>
          </a:prstGeom>
          <a:solidFill>
            <a:srgbClr val="24384F"/>
          </a:solidFill>
          <a:ln w="12700">
            <a:solidFill>
              <a:srgbClr val="2438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56362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563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30552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Registar a atribuição nominal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3026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6DF"/>
                </a:solidFill>
              </a:rPr>
              <a:t>Registar os nomes nos papéis definidos e ativar a ferramenta de gestão (Jira ou equivalente).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5112" y="1325880"/>
            <a:ext cx="3538728" cy="1874520"/>
          </a:xfrm>
          <a:prstGeom prst="roundRect">
            <a:avLst>
              <a:gd name="adj" fmla="val 3415"/>
            </a:avLst>
          </a:prstGeom>
          <a:solidFill>
            <a:srgbClr val="24384F"/>
          </a:solidFill>
          <a:ln w="12700">
            <a:solidFill>
              <a:srgbClr val="2438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1144" y="156362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563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130552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Revisão do investidor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2514600"/>
            <a:ext cx="3026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6DF"/>
                </a:solidFill>
              </a:rPr>
              <a:t>Validar visão, MVP, personas, DoR/DoD, domínio e arquitetura, e as questões abertas de cada documento.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01584" y="1325880"/>
            <a:ext cx="3538728" cy="1874520"/>
          </a:xfrm>
          <a:prstGeom prst="roundRect">
            <a:avLst>
              <a:gd name="adj" fmla="val 3415"/>
            </a:avLst>
          </a:prstGeom>
          <a:solidFill>
            <a:srgbClr val="24384F"/>
          </a:solidFill>
          <a:ln w="12700">
            <a:solidFill>
              <a:srgbClr val="2438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7616" y="1563624"/>
            <a:ext cx="438912" cy="43891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563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2130552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Executar o walking skeleton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514600"/>
            <a:ext cx="3026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6DF"/>
                </a:solidFill>
              </a:rPr>
              <a:t>Sprint B arranca com código, CI/CD e implantação em contentores desde o primeiro dia.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11091672" cy="1600200"/>
          </a:xfrm>
          <a:prstGeom prst="roundRect">
            <a:avLst>
              <a:gd name="adj" fmla="val 4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611880"/>
            <a:ext cx="10469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 é um problema valioso e o MVP proposto é o menor experimento credível?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Obrigado — perguntas?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97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DF"/>
                </a:solidFill>
              </a:rPr>
              <a:t>Coordenador de Manutenção de Edifícios · LABDSOF 2026/27 · ISEP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F9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ME">
  <a:themeElements>
    <a:clrScheme name="CME">
      <a:dk1>
        <a:srgbClr val="1B2A41"/>
      </a:dk1>
      <a:lt1>
        <a:srgbClr val="FFFFFF"/>
      </a:lt1>
      <a:dk2>
        <a:srgbClr val="24384F"/>
      </a:dk2>
      <a:lt2>
        <a:srgbClr val="F2F5F7"/>
      </a:lt2>
      <a:accent1>
        <a:srgbClr val="E8A33D"/>
      </a:accent1>
      <a:accent2>
        <a:srgbClr val="3E7CB1"/>
      </a:accent2>
      <a:accent3>
        <a:srgbClr val="2E9E6B"/>
      </a:accent3>
      <a:accent4>
        <a:srgbClr val="D64545"/>
      </a:accent4>
      <a:accent5>
        <a:srgbClr val="4F6D7A"/>
      </a:accent5>
      <a:accent6>
        <a:srgbClr val="C9D6DF"/>
      </a:accent6>
      <a:hlink>
        <a:srgbClr val="3E7CB1"/>
      </a:hlink>
      <a:folHlink>
        <a:srgbClr val="4F6D7A"/>
      </a:folHlink>
    </a:clrScheme>
    <a:fontScheme name="C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LABDSOF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Coordenador de Manutenção de Edifícios</dc:title>
  <dc:subject>PptxGenJS Presentation</dc:subject>
  <dc:creator>Equipa CME</dc:creator>
  <cp:lastModifiedBy>Equipa CME</cp:lastModifiedBy>
  <cp:revision>1</cp:revision>
  <dcterms:created xsi:type="dcterms:W3CDTF">2026-10-08T11:00:06Z</dcterms:created>
  <dcterms:modified xsi:type="dcterms:W3CDTF">2026-10-08T11:00:06Z</dcterms:modified>
</cp:coreProperties>
</file>